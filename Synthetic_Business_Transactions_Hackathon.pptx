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Opening: introduce the project and team. Explain that this is a prototype concept for end-to-end transaction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Problem: use checkout as the example. The page and server may be up while order confirmation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Solution: explain the five-stage loop: trigger, execute, validate, diagnose,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journey: walk judges through test checkout using a payment sandbox and synthetic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Architecture: describe each module and emphasize modularity and security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Detection: distinguish deterministic checks from AI-assisted summaries. AI does not replace assertions.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Dashboard: values are illustrative only. Replace them with actual results from your implementation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Recovery: safe read-only actions may be automated; actions with financial or availability impact need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Implementation: show the smallest working vertical slice rather than many unfinished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Metrics: report actual measured results, not made-up performance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Demo: seed a controlled failure in a test environment and show how the platform responds.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Closing: summarize proactive detection, actionable evidence and safe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these short answers during Q&amp;A. Be honest about what is implemented versus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201168" cy="201168"/>
          </a:xfrm>
          <a:prstGeom prst="ellipse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645920"/>
            <a:ext cx="146304" cy="146304"/>
          </a:xfrm>
          <a:prstGeom prst="ellipse">
            <a:avLst/>
          </a:prstGeom>
          <a:solidFill>
            <a:srgbClr val="42E7BE"/>
          </a:solidFill>
          <a:ln>
            <a:solidFill>
              <a:srgbClr val="42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2926080"/>
            <a:ext cx="228600" cy="228600"/>
          </a:xfrm>
          <a:prstGeom prst="ellipse">
            <a:avLst/>
          </a:prstGeom>
          <a:solidFill>
            <a:srgbClr val="A98BFF"/>
          </a:solidFill>
          <a:ln>
            <a:solidFill>
              <a:srgbClr val="A9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840480"/>
            <a:ext cx="164592" cy="164592"/>
          </a:xfrm>
          <a:prstGeom prst="ellipse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0" y="4754880"/>
            <a:ext cx="137160" cy="137160"/>
          </a:xfrm>
          <a:prstGeom prst="ellipse">
            <a:avLst/>
          </a:prstGeom>
          <a:solidFill>
            <a:srgbClr val="42E7BE"/>
          </a:solidFill>
          <a:ln>
            <a:solidFill>
              <a:srgbClr val="42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0" y="5303520"/>
            <a:ext cx="201168" cy="201168"/>
          </a:xfrm>
          <a:prstGeom prst="ellipse">
            <a:avLst/>
          </a:prstGeom>
          <a:solidFill>
            <a:srgbClr val="FFAE5C"/>
          </a:solidFill>
          <a:ln>
            <a:solidFill>
              <a:srgbClr val="FF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79" y="3291840"/>
            <a:ext cx="118872" cy="118872"/>
          </a:xfrm>
          <a:prstGeom prst="ellipse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787384" y="1197864"/>
            <a:ext cx="1709928" cy="521208"/>
          </a:xfrm>
          <a:prstGeom prst="line">
            <a:avLst/>
          </a:prstGeom>
          <a:ln w="25400">
            <a:solidFill>
              <a:srgbClr val="1B2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893808" y="1719072"/>
            <a:ext cx="603504" cy="1298448"/>
          </a:xfrm>
          <a:prstGeom prst="line">
            <a:avLst/>
          </a:prstGeom>
          <a:ln w="25400">
            <a:solidFill>
              <a:srgbClr val="1B2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93808" y="3017520"/>
            <a:ext cx="1161288" cy="905256"/>
          </a:xfrm>
          <a:prstGeom prst="line">
            <a:avLst/>
          </a:prstGeom>
          <a:ln w="25400">
            <a:solidFill>
              <a:srgbClr val="1B2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476488" y="3017520"/>
            <a:ext cx="1417320" cy="1801368"/>
          </a:xfrm>
          <a:prstGeom prst="line">
            <a:avLst/>
          </a:prstGeom>
          <a:ln w="25400">
            <a:solidFill>
              <a:srgbClr val="1B2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76488" y="4818888"/>
            <a:ext cx="2322576" cy="585216"/>
          </a:xfrm>
          <a:prstGeom prst="line">
            <a:avLst/>
          </a:prstGeom>
          <a:ln w="25400">
            <a:solidFill>
              <a:srgbClr val="1B2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010144" y="3017520"/>
            <a:ext cx="1883664" cy="338328"/>
          </a:xfrm>
          <a:prstGeom prst="line">
            <a:avLst/>
          </a:prstGeom>
          <a:ln w="25400">
            <a:solidFill>
              <a:srgbClr val="1B2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731520"/>
            <a:ext cx="1737360" cy="329184"/>
          </a:xfrm>
          <a:prstGeom prst="roundRect">
            <a:avLst/>
          </a:prstGeom>
          <a:solidFill>
            <a:srgbClr val="1B2A49"/>
          </a:solidFill>
          <a:ln>
            <a:solidFill>
              <a:srgbClr val="42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754380"/>
            <a:ext cx="1627631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42E7BE"/>
                </a:solidFill>
                <a:latin typeface="Aptos"/>
              </a:rPr>
              <a:t>HACKATHON PROJECT</a:t>
            </a:r>
            <a:endParaRPr sz="10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1417320"/>
            <a:ext cx="704088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F5F8FF"/>
                </a:solidFill>
                <a:latin typeface="Aptos"/>
              </a:rPr>
              <a:t>Synthetic Business
Transactions</a:t>
            </a:r>
            <a:endParaRPr sz="34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088" y="3154680"/>
            <a:ext cx="649224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38D9EF"/>
                </a:solidFill>
                <a:latin typeface="Aptos"/>
              </a:rPr>
              <a:t>Autonomous Transaction Monitoring &amp; Recovery</a:t>
            </a:r>
            <a:endParaRPr sz="21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4005072"/>
            <a:ext cx="6217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B1BED6"/>
                </a:solidFill>
                <a:latin typeface="Aptos"/>
              </a:rPr>
              <a:t>Protect the entire business journey — not just uptime.</a:t>
            </a:r>
            <a:endParaRPr sz="16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13232" y="4956048"/>
            <a:ext cx="5394960" cy="731520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75504"/>
            <a:ext cx="5029200" cy="2565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TEAM NAME: </a:t>
            </a:r>
            <a:r>
              <a:rPr lang="en-US" sz="1200" b="1" i="0">
                <a:solidFill>
                  <a:srgbClr val="F5F8FF"/>
                </a:solidFill>
                <a:latin typeface="Aptos"/>
              </a:rPr>
              <a:t> NPJ VORTEX</a:t>
            </a:r>
            <a:endParaRPr lang="en-US" sz="12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6144768"/>
            <a:ext cx="8686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B1BED6"/>
                </a:solidFill>
                <a:latin typeface="Aptos"/>
              </a:rPr>
              <a:t>A practical prototype concept for proactive, evidence-led incident response</a:t>
            </a:r>
            <a:endParaRPr sz="10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01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01 • THE PROBLEM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A system can be “up” while the business is broken</a:t>
            </a:r>
            <a:endParaRPr sz="2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1BED6"/>
                </a:solidFill>
                <a:latin typeface="Aptos"/>
              </a:rPr>
              <a:t>Uptime checks availability. Customers experience complete workflows.</a:t>
            </a:r>
            <a:endParaRPr sz="13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02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B1BED6"/>
                </a:solidFill>
                <a:latin typeface="Aptos"/>
              </a:rPr>
              <a:t>HACKATHON • SOLUTION CONCEPT</a:t>
            </a:r>
            <a:endParaRPr sz="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474720" cy="1965960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22199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667A"/>
                </a:solidFill>
                <a:latin typeface="Aptos"/>
              </a:rPr>
              <a:t>01</a:t>
            </a:r>
            <a:endParaRPr sz="1100" b="1" i="0">
              <a:solidFill>
                <a:srgbClr val="FF667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7" y="2587752"/>
            <a:ext cx="29260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LOGIN</a:t>
            </a:r>
            <a:endParaRPr sz="1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7" y="299923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User cannot authenticate</a:t>
            </a:r>
            <a:endParaRPr sz="13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7" y="345643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B1BED6"/>
                </a:solidFill>
                <a:latin typeface="Aptos"/>
              </a:rPr>
              <a:t>A login page loads, but token creation fails.</a:t>
            </a:r>
            <a:endParaRPr sz="11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80560" y="2011680"/>
            <a:ext cx="3474720" cy="1965960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22199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AE5C"/>
                </a:solidFill>
                <a:latin typeface="Aptos"/>
              </a:rPr>
              <a:t>02</a:t>
            </a:r>
            <a:endParaRPr sz="11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1728" y="2587752"/>
            <a:ext cx="29260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CHECKOUT</a:t>
            </a:r>
            <a:endParaRPr sz="1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81728" y="299923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Order cannot complete</a:t>
            </a:r>
            <a:endParaRPr sz="13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81728" y="345643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B1BED6"/>
                </a:solidFill>
                <a:latin typeface="Aptos"/>
              </a:rPr>
              <a:t>Cart works; payment confirmation never arrives.</a:t>
            </a:r>
            <a:endParaRPr sz="11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21040" y="2011680"/>
            <a:ext cx="3474720" cy="1965960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222199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A98BFF"/>
                </a:solidFill>
                <a:latin typeface="Aptos"/>
              </a:rPr>
              <a:t>03</a:t>
            </a:r>
            <a:endParaRPr sz="1100" b="1" i="0">
              <a:solidFill>
                <a:srgbClr val="A98B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22208" y="2587752"/>
            <a:ext cx="29260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INTEGRATION</a:t>
            </a:r>
            <a:endParaRPr sz="1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22208" y="2999232"/>
            <a:ext cx="3017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Services disagree</a:t>
            </a:r>
            <a:endParaRPr sz="13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22208" y="3456432"/>
            <a:ext cx="2971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B1BED6"/>
                </a:solidFill>
                <a:latin typeface="Aptos"/>
              </a:rPr>
              <a:t>API succeeds, but the downstream record is missing.</a:t>
            </a:r>
            <a:endParaRPr sz="11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4389120"/>
            <a:ext cx="10927080" cy="100584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90288"/>
            <a:ext cx="1005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THE GAP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0240" y="4553712"/>
            <a:ext cx="92354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Traditional monitoring often sees servers and isolated errors — not whether a real business journey succeeded.</a:t>
            </a:r>
            <a:endParaRPr sz="16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" y="5650992"/>
            <a:ext cx="10332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AE5C"/>
                </a:solidFill>
                <a:latin typeface="Aptos"/>
              </a:rPr>
              <a:t>Impact: silent failures • lost conversions • delayed diagnosis • customer frustration</a:t>
            </a:r>
            <a:endParaRPr sz="1200" b="1" i="0">
              <a:solidFill>
                <a:srgbClr val="FFAE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02 • OUR SOLUTION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A synthetic customer journey, run continuously</a:t>
            </a:r>
            <a:endParaRPr sz="2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1BED6"/>
                </a:solidFill>
                <a:latin typeface="Aptos"/>
              </a:rPr>
              <a:t>Automated checks behave like a test customer and validate every critical step.</a:t>
            </a:r>
            <a:endParaRPr sz="13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03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B1BED6"/>
                </a:solidFill>
                <a:latin typeface="Aptos"/>
              </a:rPr>
              <a:t>HACKATHON • SOLUTION CONCEPT</a:t>
            </a:r>
            <a:endParaRPr sz="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2029968" cy="1572768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" y="2487168"/>
            <a:ext cx="384048" cy="329184"/>
          </a:xfrm>
          <a:prstGeom prst="roundRect">
            <a:avLst/>
          </a:prstGeom>
          <a:solidFill>
            <a:srgbClr val="1B2A49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510028"/>
            <a:ext cx="2743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1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" y="2907792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8D9EF"/>
                </a:solidFill>
                <a:latin typeface="Aptos"/>
              </a:rPr>
              <a:t>TRIGGER</a:t>
            </a:r>
            <a:endParaRPr sz="13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" y="3273552"/>
            <a:ext cx="1737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Run on a schedule
or on demand</a:t>
            </a:r>
            <a:endParaRPr sz="11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60320" y="2871216"/>
            <a:ext cx="274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B1BED6"/>
                </a:solidFill>
                <a:latin typeface="Aptos"/>
              </a:rPr>
              <a:t>→</a:t>
            </a:r>
            <a:endParaRPr sz="22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62072" y="2331720"/>
            <a:ext cx="2029968" cy="1572768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08376" y="2487168"/>
            <a:ext cx="384048" cy="329184"/>
          </a:xfrm>
          <a:prstGeom prst="roundRect">
            <a:avLst/>
          </a:prstGeom>
          <a:solidFill>
            <a:srgbClr val="1B2A49"/>
          </a:solidFill>
          <a:ln>
            <a:solidFill>
              <a:srgbClr val="A9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2510028"/>
            <a:ext cx="2743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A98BFF"/>
                </a:solidFill>
                <a:latin typeface="Aptos"/>
              </a:rPr>
              <a:t>2</a:t>
            </a:r>
            <a:endParaRPr sz="1000" b="1" i="0">
              <a:solidFill>
                <a:srgbClr val="A98B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08376" y="2907792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A98BFF"/>
                </a:solidFill>
                <a:latin typeface="Aptos"/>
              </a:rPr>
              <a:t>EXECUTE</a:t>
            </a:r>
            <a:endParaRPr sz="1300" b="1" i="0">
              <a:solidFill>
                <a:srgbClr val="A98B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08376" y="3273552"/>
            <a:ext cx="1737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Browser or API
workflow</a:t>
            </a:r>
            <a:endParaRPr sz="11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19472" y="2871216"/>
            <a:ext cx="274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B1BED6"/>
                </a:solidFill>
                <a:latin typeface="Aptos"/>
              </a:rPr>
              <a:t>→</a:t>
            </a:r>
            <a:endParaRPr sz="22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221224" y="2331720"/>
            <a:ext cx="2029968" cy="1572768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67528" y="2487168"/>
            <a:ext cx="384048" cy="329184"/>
          </a:xfrm>
          <a:prstGeom prst="roundRect">
            <a:avLst/>
          </a:prstGeom>
          <a:solidFill>
            <a:srgbClr val="1B2A49"/>
          </a:solidFill>
          <a:ln>
            <a:solidFill>
              <a:srgbClr val="42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22392" y="2510028"/>
            <a:ext cx="2743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42E7BE"/>
                </a:solidFill>
                <a:latin typeface="Aptos"/>
              </a:rPr>
              <a:t>3</a:t>
            </a:r>
            <a:endParaRPr sz="10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67528" y="2907792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42E7BE"/>
                </a:solidFill>
                <a:latin typeface="Aptos"/>
              </a:rPr>
              <a:t>VALIDATE</a:t>
            </a:r>
            <a:endParaRPr sz="13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67528" y="3273552"/>
            <a:ext cx="1737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Check status, data,
and confirmation</a:t>
            </a:r>
            <a:endParaRPr sz="11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78624" y="2871216"/>
            <a:ext cx="274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B1BED6"/>
                </a:solidFill>
                <a:latin typeface="Aptos"/>
              </a:rPr>
              <a:t>→</a:t>
            </a:r>
            <a:endParaRPr sz="22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580376" y="2331720"/>
            <a:ext cx="2029968" cy="1572768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26680" y="2487168"/>
            <a:ext cx="384048" cy="329184"/>
          </a:xfrm>
          <a:prstGeom prst="roundRect">
            <a:avLst/>
          </a:prstGeom>
          <a:solidFill>
            <a:srgbClr val="1B2A49"/>
          </a:solidFill>
          <a:ln>
            <a:solidFill>
              <a:srgbClr val="FF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81544" y="2510028"/>
            <a:ext cx="2743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AE5C"/>
                </a:solidFill>
                <a:latin typeface="Aptos"/>
              </a:rPr>
              <a:t>4</a:t>
            </a:r>
            <a:endParaRPr sz="10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26680" y="2907792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AE5C"/>
                </a:solidFill>
                <a:latin typeface="Aptos"/>
              </a:rPr>
              <a:t>DIAGNOSE</a:t>
            </a:r>
            <a:endParaRPr sz="13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26680" y="3273552"/>
            <a:ext cx="1737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Correlate logs,
traces and history</a:t>
            </a:r>
            <a:endParaRPr sz="11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37776" y="2871216"/>
            <a:ext cx="274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B1BED6"/>
                </a:solidFill>
                <a:latin typeface="Aptos"/>
              </a:rPr>
              <a:t>→</a:t>
            </a:r>
            <a:endParaRPr sz="22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939528" y="2331720"/>
            <a:ext cx="2029968" cy="1572768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85832" y="2487168"/>
            <a:ext cx="384048" cy="329184"/>
          </a:xfrm>
          <a:prstGeom prst="roundRect">
            <a:avLst/>
          </a:prstGeom>
          <a:solidFill>
            <a:srgbClr val="1B2A49"/>
          </a:solidFill>
          <a:ln>
            <a:solidFill>
              <a:srgbClr val="68E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0696" y="2510028"/>
            <a:ext cx="27432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68E69D"/>
                </a:solidFill>
                <a:latin typeface="Aptos"/>
              </a:rPr>
              <a:t>5</a:t>
            </a:r>
            <a:endParaRPr sz="1000" b="1" i="0">
              <a:solidFill>
                <a:srgbClr val="68E69D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85832" y="2907792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68E69D"/>
                </a:solidFill>
                <a:latin typeface="Aptos"/>
              </a:rPr>
              <a:t>RESPOND</a:t>
            </a:r>
            <a:endParaRPr sz="1300" b="1" i="0">
              <a:solidFill>
                <a:srgbClr val="68E69D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085832" y="3273552"/>
            <a:ext cx="1737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Alert, create incident,
approved recovery</a:t>
            </a:r>
            <a:endParaRPr sz="11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85800" y="4434840"/>
            <a:ext cx="10789920" cy="91440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645152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DESIGN PRINCIPLE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06040" y="4590288"/>
            <a:ext cx="8412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Measure business outcomes end-to-end, then give responders evidence and safe next steps.</a:t>
            </a:r>
            <a:endParaRPr sz="15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31520" y="571500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B1BED6"/>
                </a:solidFill>
                <a:latin typeface="Aptos"/>
              </a:rPr>
              <a:t>Synthetic transactions should use test accounts, test data and controlled environments wherever possible.</a:t>
            </a:r>
            <a:endParaRPr sz="1100" b="0" i="1">
              <a:solidFill>
                <a:srgbClr val="B1BED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03 • DEMO JOURNEY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Example: checkout transaction monitoring</a:t>
            </a:r>
            <a:endParaRPr sz="2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1BED6"/>
                </a:solidFill>
                <a:latin typeface="Aptos"/>
              </a:rPr>
              <a:t>A single synthetic purchase validates the customer journey across multiple services.</a:t>
            </a:r>
            <a:endParaRPr sz="13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04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B1BED6"/>
                </a:solidFill>
                <a:latin typeface="Aptos"/>
              </a:rPr>
              <a:t>HACKATHON • SOLUTION CONCEPT</a:t>
            </a:r>
            <a:endParaRPr sz="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658368" cy="50292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38528"/>
            <a:ext cx="51206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38D9EF"/>
                </a:solidFill>
                <a:latin typeface="Aptos"/>
              </a:rPr>
              <a:t>01</a:t>
            </a:r>
            <a:endParaRPr sz="11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1640" y="1865376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Open storefront</a:t>
            </a:r>
            <a:endParaRPr sz="14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69080" y="1865376"/>
            <a:ext cx="5212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1BED6"/>
                </a:solidFill>
                <a:latin typeface="Aptos"/>
              </a:rPr>
              <a:t>Page loads within threshold</a:t>
            </a:r>
            <a:endParaRPr sz="12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2313432"/>
            <a:ext cx="2286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↓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9808" y="2578608"/>
            <a:ext cx="658368" cy="50292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688336"/>
            <a:ext cx="51206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38D9EF"/>
                </a:solidFill>
                <a:latin typeface="Aptos"/>
              </a:rPr>
              <a:t>02</a:t>
            </a:r>
            <a:endParaRPr sz="11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91640" y="2615184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Sign in</a:t>
            </a:r>
            <a:endParaRPr sz="14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69080" y="2615184"/>
            <a:ext cx="5212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1BED6"/>
                </a:solidFill>
                <a:latin typeface="Aptos"/>
              </a:rPr>
              <a:t>Expected user session is created</a:t>
            </a:r>
            <a:endParaRPr sz="12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3063239"/>
            <a:ext cx="2286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↓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328415"/>
            <a:ext cx="658368" cy="50292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3438144"/>
            <a:ext cx="51206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38D9EF"/>
                </a:solidFill>
                <a:latin typeface="Aptos"/>
              </a:rPr>
              <a:t>03</a:t>
            </a:r>
            <a:endParaRPr sz="11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91640" y="3364991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Add item to cart</a:t>
            </a:r>
            <a:endParaRPr sz="14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69080" y="3364991"/>
            <a:ext cx="5212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1BED6"/>
                </a:solidFill>
                <a:latin typeface="Aptos"/>
              </a:rPr>
              <a:t>Cart contains the correct SKU and quantity</a:t>
            </a:r>
            <a:endParaRPr sz="12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3813048"/>
            <a:ext cx="2286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↓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9808" y="4078224"/>
            <a:ext cx="658368" cy="50292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4187952"/>
            <a:ext cx="51206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38D9EF"/>
                </a:solidFill>
                <a:latin typeface="Aptos"/>
              </a:rPr>
              <a:t>04</a:t>
            </a:r>
            <a:endParaRPr sz="11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91640" y="4114800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Submit test payment</a:t>
            </a:r>
            <a:endParaRPr sz="14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69080" y="4114800"/>
            <a:ext cx="5212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1BED6"/>
                </a:solidFill>
                <a:latin typeface="Aptos"/>
              </a:rPr>
              <a:t>Payment sandbox returns approved status</a:t>
            </a:r>
            <a:endParaRPr sz="12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" y="4562856"/>
            <a:ext cx="2286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↓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49808" y="4828031"/>
            <a:ext cx="658368" cy="50292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4937759"/>
            <a:ext cx="51206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38D9EF"/>
                </a:solidFill>
                <a:latin typeface="Aptos"/>
              </a:rPr>
              <a:t>05</a:t>
            </a:r>
            <a:endParaRPr sz="11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91640" y="4864607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Verify order</a:t>
            </a:r>
            <a:endParaRPr sz="14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069080" y="4864607"/>
            <a:ext cx="5212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1BED6"/>
                </a:solidFill>
                <a:latin typeface="Aptos"/>
              </a:rPr>
              <a:t>Order ID and confirmation are present</a:t>
            </a:r>
            <a:endParaRPr sz="12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326880" y="1993392"/>
            <a:ext cx="2148840" cy="2011680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8" y="2212848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42E7BE"/>
                </a:solidFill>
                <a:latin typeface="Aptos"/>
              </a:rPr>
              <a:t>PASS CRITERIA</a:t>
            </a:r>
            <a:endParaRPr sz="12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09760" y="2633472"/>
            <a:ext cx="1783080" cy="114300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5F8FF"/>
                </a:solidFill>
                <a:latin typeface="Aptos"/>
              </a:defRPr>
            </a:pPr>
            <a:r>
              <a:t>•  Every step succeeds</a:t>
            </a:r>
          </a:p>
          <a:p>
            <a:pPr>
              <a:spcAft>
                <a:spcPts val="500"/>
              </a:spcAft>
              <a:defRPr sz="1100">
                <a:solidFill>
                  <a:srgbClr val="F5F8FF"/>
                </a:solidFill>
                <a:latin typeface="Aptos"/>
              </a:defRPr>
            </a:pPr>
            <a:r>
              <a:t>•  Correct data is persisted</a:t>
            </a:r>
          </a:p>
          <a:p>
            <a:pPr>
              <a:spcAft>
                <a:spcPts val="500"/>
              </a:spcAft>
              <a:defRPr sz="1100">
                <a:solidFill>
                  <a:srgbClr val="F5F8FF"/>
                </a:solidFill>
                <a:latin typeface="Aptos"/>
              </a:defRPr>
            </a:pPr>
            <a:r>
              <a:t>•  Confirmation is visible</a:t>
            </a:r>
          </a:p>
          <a:p>
            <a:pPr>
              <a:spcAft>
                <a:spcPts val="500"/>
              </a:spcAft>
              <a:defRPr sz="1100">
                <a:solidFill>
                  <a:srgbClr val="F5F8FF"/>
                </a:solidFill>
                <a:latin typeface="Aptos"/>
              </a:defRPr>
            </a:pPr>
            <a:r>
              <a:t>•  Latency is within SLO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4315968"/>
            <a:ext cx="2148840" cy="804672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82328" y="4489704"/>
            <a:ext cx="1828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AE5C"/>
                </a:solidFill>
                <a:latin typeface="Aptos"/>
              </a:rPr>
              <a:t>Use a payment sandbox — never real customer charges.</a:t>
            </a:r>
            <a:endParaRPr sz="10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" y="5870448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The same pattern works for login, booking, registration, refunds and API-to-API workflows.</a:t>
            </a:r>
            <a:endParaRPr sz="1200" b="1" i="0">
              <a:solidFill>
                <a:srgbClr val="F5F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04 • ARCHITECTURE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Small, modular architecture — clear responsibilities</a:t>
            </a:r>
            <a:endParaRPr sz="2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1BED6"/>
                </a:solidFill>
                <a:latin typeface="Aptos"/>
              </a:rPr>
              <a:t>Keep execution, validation, diagnosis and response independently testable.</a:t>
            </a:r>
            <a:endParaRPr sz="13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05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B1BED6"/>
                </a:solidFill>
                <a:latin typeface="Aptos"/>
              </a:rPr>
              <a:t>HACKATHON • SOLUTION CONCEPT</a:t>
            </a:r>
            <a:endParaRPr sz="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965960" cy="914400"/>
          </a:xfrm>
          <a:prstGeom prst="roundRect">
            <a:avLst/>
          </a:prstGeom>
          <a:solidFill>
            <a:srgbClr val="141F3A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57400"/>
            <a:ext cx="17465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8D9EF"/>
                </a:solidFill>
                <a:latin typeface="Aptos"/>
              </a:rPr>
              <a:t>Scheduler</a:t>
            </a:r>
            <a:endParaRPr sz="13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19" y="2404872"/>
            <a:ext cx="1783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F5F8FF"/>
                </a:solidFill>
                <a:latin typeface="Aptos"/>
              </a:rPr>
              <a:t>Cron / manual trigger</a:t>
            </a:r>
            <a:endParaRPr sz="9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26080" y="1920240"/>
            <a:ext cx="1965960" cy="914400"/>
          </a:xfrm>
          <a:prstGeom prst="roundRect">
            <a:avLst/>
          </a:prstGeom>
          <a:solidFill>
            <a:srgbClr val="141F3A"/>
          </a:solidFill>
          <a:ln>
            <a:solidFill>
              <a:srgbClr val="A9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057400"/>
            <a:ext cx="17465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A98BFF"/>
                </a:solidFill>
                <a:latin typeface="Aptos"/>
              </a:rPr>
              <a:t>Workflow runner</a:t>
            </a:r>
            <a:endParaRPr sz="1300" b="1" i="0">
              <a:solidFill>
                <a:srgbClr val="A98B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7520" y="2404872"/>
            <a:ext cx="1783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F5F8FF"/>
                </a:solidFill>
                <a:latin typeface="Aptos"/>
              </a:rPr>
              <a:t>Playwright / HTTP client</a:t>
            </a:r>
            <a:endParaRPr sz="9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212080" y="1920240"/>
            <a:ext cx="1965960" cy="914400"/>
          </a:xfrm>
          <a:prstGeom prst="roundRect">
            <a:avLst/>
          </a:prstGeom>
          <a:solidFill>
            <a:srgbClr val="141F3A"/>
          </a:solidFill>
          <a:ln>
            <a:solidFill>
              <a:srgbClr val="42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2057400"/>
            <a:ext cx="17465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42E7BE"/>
                </a:solidFill>
                <a:latin typeface="Aptos"/>
              </a:rPr>
              <a:t>Validator</a:t>
            </a:r>
            <a:endParaRPr sz="13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03520" y="2404872"/>
            <a:ext cx="1783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F5F8FF"/>
                </a:solidFill>
                <a:latin typeface="Aptos"/>
              </a:rPr>
              <a:t>Rules + thresholds</a:t>
            </a:r>
            <a:endParaRPr sz="9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98079" y="1920240"/>
            <a:ext cx="1965960" cy="914400"/>
          </a:xfrm>
          <a:prstGeom prst="roundRect">
            <a:avLst/>
          </a:prstGeom>
          <a:solidFill>
            <a:srgbClr val="141F3A"/>
          </a:solidFill>
          <a:ln>
            <a:solidFill>
              <a:srgbClr val="FF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7" y="2057400"/>
            <a:ext cx="17465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AE5C"/>
                </a:solidFill>
                <a:latin typeface="Aptos"/>
              </a:rPr>
              <a:t>Evidence store</a:t>
            </a:r>
            <a:endParaRPr sz="13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89519" y="2404872"/>
            <a:ext cx="1783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F5F8FF"/>
                </a:solidFill>
                <a:latin typeface="Aptos"/>
              </a:rPr>
              <a:t>Results, logs, traces</a:t>
            </a:r>
            <a:endParaRPr sz="9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784080" y="1920240"/>
            <a:ext cx="1737360" cy="914400"/>
          </a:xfrm>
          <a:prstGeom prst="roundRect">
            <a:avLst/>
          </a:prstGeom>
          <a:solidFill>
            <a:srgbClr val="141F3A"/>
          </a:solidFill>
          <a:ln>
            <a:solidFill>
              <a:srgbClr val="68E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7" y="2057400"/>
            <a:ext cx="15179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68E69D"/>
                </a:solidFill>
                <a:latin typeface="Aptos"/>
              </a:rPr>
              <a:t>Responder</a:t>
            </a:r>
            <a:endParaRPr sz="1300" b="1" i="0">
              <a:solidFill>
                <a:srgbClr val="68E69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75519" y="2404872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F5F8FF"/>
                </a:solidFill>
                <a:latin typeface="Aptos"/>
              </a:rPr>
              <a:t>Alert / runbook</a:t>
            </a:r>
            <a:endParaRPr sz="9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33472" y="2185416"/>
            <a:ext cx="2560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B1BED6"/>
                </a:solidFill>
                <a:latin typeface="Aptos"/>
              </a:rPr>
              <a:t>→</a:t>
            </a:r>
            <a:endParaRPr sz="1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19472" y="2185416"/>
            <a:ext cx="2560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B1BED6"/>
                </a:solidFill>
                <a:latin typeface="Aptos"/>
              </a:rPr>
              <a:t>→</a:t>
            </a:r>
            <a:endParaRPr sz="1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05472" y="2185416"/>
            <a:ext cx="2560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B1BED6"/>
                </a:solidFill>
                <a:latin typeface="Aptos"/>
              </a:rPr>
              <a:t>→</a:t>
            </a:r>
            <a:endParaRPr sz="1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91472" y="2185416"/>
            <a:ext cx="2560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B1BED6"/>
                </a:solidFill>
                <a:latin typeface="Aptos"/>
              </a:rPr>
              <a:t>→</a:t>
            </a:r>
            <a:endParaRPr sz="1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14400" y="3657600"/>
            <a:ext cx="4754880" cy="123444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3858768"/>
            <a:ext cx="24688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8D9EF"/>
                </a:solidFill>
                <a:latin typeface="Aptos"/>
              </a:rPr>
              <a:t>OBSERVABILITY INPUTS</a:t>
            </a:r>
            <a:endParaRPr sz="11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43000" y="4279392"/>
            <a:ext cx="4160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Application logs • API responses • traces • historical incidents</a:t>
            </a:r>
            <a:endParaRPr sz="12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0" y="3657600"/>
            <a:ext cx="4754880" cy="123444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858768"/>
            <a:ext cx="24688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42E7BE"/>
                </a:solidFill>
                <a:latin typeface="Aptos"/>
              </a:rPr>
              <a:t>CONTROL &amp; SAFETY</a:t>
            </a:r>
            <a:endParaRPr sz="11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29400" y="4279392"/>
            <a:ext cx="41148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Secrets manager • RBAC • audit log • retry limits • approval gate</a:t>
            </a:r>
            <a:endParaRPr sz="12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B1BED6"/>
                </a:solidFill>
                <a:latin typeface="Aptos"/>
              </a:rPr>
              <a:t>Suggested prototype stack: Python/FastAPI • Playwright • SQLite/PostgreSQL • dashboard • email/Slack webhook</a:t>
            </a:r>
            <a:endParaRPr sz="1100" b="0" i="0">
              <a:solidFill>
                <a:srgbClr val="B1BED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05 • DETECTION LOGIC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From a failed step to a useful diagnosis</a:t>
            </a:r>
            <a:endParaRPr sz="2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1BED6"/>
                </a:solidFill>
                <a:latin typeface="Aptos"/>
              </a:rPr>
              <a:t>Combine deterministic rules with evidence-based explanation — not guesswork.</a:t>
            </a:r>
            <a:endParaRPr sz="13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06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B1BED6"/>
                </a:solidFill>
                <a:latin typeface="Aptos"/>
              </a:rPr>
              <a:t>HACKATHON • SOLUTION CONCEPT</a:t>
            </a:r>
            <a:endParaRPr sz="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166360" cy="3337560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8D9EF"/>
                </a:solidFill>
                <a:latin typeface="Aptos"/>
              </a:rPr>
              <a:t>DETECTION SIGNALS</a:t>
            </a:r>
            <a:endParaRPr sz="13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4480560" cy="214884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HTTP status differs from expected result</a:t>
            </a:r>
          </a:p>
          <a:p>
            <a:pPr>
              <a:spcAft>
                <a:spcPts val="11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Response body or business data is incorrect</a:t>
            </a:r>
          </a:p>
          <a:p>
            <a:pPr>
              <a:spcAft>
                <a:spcPts val="11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Confirmation / downstream record is missing</a:t>
            </a:r>
          </a:p>
          <a:p>
            <a:pPr>
              <a:spcAft>
                <a:spcPts val="11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Step latency breaches a defined threshold</a:t>
            </a:r>
          </a:p>
          <a:p>
            <a:pPr>
              <a:spcAft>
                <a:spcPts val="11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Failure repeats across runs or regions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166360" cy="3337560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AE5C"/>
                </a:solidFill>
                <a:latin typeface="Aptos"/>
              </a:rPr>
              <a:t>DIAGNOSTIC OUTPUT</a:t>
            </a:r>
            <a:endParaRPr sz="13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60" y="2651760"/>
            <a:ext cx="4480560" cy="214884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Failed step + timestamp + correlation ID</a:t>
            </a:r>
          </a:p>
          <a:p>
            <a:pPr>
              <a:spcAft>
                <a:spcPts val="11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Expected vs actual result</a:t>
            </a:r>
          </a:p>
          <a:p>
            <a:pPr>
              <a:spcAft>
                <a:spcPts val="11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Relevant log / trace excerpts</a:t>
            </a:r>
          </a:p>
          <a:p>
            <a:pPr>
              <a:spcAft>
                <a:spcPts val="11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Likely cause with confidence level</a:t>
            </a:r>
          </a:p>
          <a:p>
            <a:pPr>
              <a:spcAft>
                <a:spcPts val="11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Recommended runbook and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10607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42E7BE"/>
                </a:solidFill>
                <a:latin typeface="Aptos"/>
              </a:rPr>
              <a:t>Example: “Payment API returned 200, but no order record appeared within 10 seconds” is more actionable than “checkout failed.”</a:t>
            </a:r>
            <a:endParaRPr sz="1200" b="1" i="0">
              <a:solidFill>
                <a:srgbClr val="42E7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06 • PRODUCT VIEW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One dashboard for journey health and evidence</a:t>
            </a:r>
            <a:endParaRPr sz="2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1BED6"/>
                </a:solidFill>
                <a:latin typeface="Aptos"/>
              </a:rPr>
              <a:t>Illustrative UI — values are sample data for the prototype demo.</a:t>
            </a:r>
            <a:endParaRPr sz="13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07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B1BED6"/>
                </a:solidFill>
                <a:latin typeface="Aptos"/>
              </a:rPr>
              <a:t>HACKATHON • SOLUTION CONCEPT</a:t>
            </a:r>
            <a:endParaRPr sz="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2514600" cy="960120"/>
          </a:xfrm>
          <a:prstGeom prst="roundRect">
            <a:avLst/>
          </a:prstGeom>
          <a:solidFill>
            <a:srgbClr val="141F3A"/>
          </a:solidFill>
          <a:ln>
            <a:solidFill>
              <a:srgbClr val="42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47672"/>
            <a:ext cx="2148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B1BED6"/>
                </a:solidFill>
                <a:latin typeface="Aptos"/>
              </a:rPr>
              <a:t>SUCCESS RATE</a:t>
            </a:r>
            <a:endParaRPr sz="9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392" y="225856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42E7BE"/>
                </a:solidFill>
                <a:latin typeface="Aptos"/>
              </a:rPr>
              <a:t>98.4%</a:t>
            </a:r>
            <a:endParaRPr sz="22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538728" y="1783080"/>
            <a:ext cx="2514600" cy="960120"/>
          </a:xfrm>
          <a:prstGeom prst="roundRect">
            <a:avLst/>
          </a:prstGeom>
          <a:solidFill>
            <a:srgbClr val="141F3A"/>
          </a:solidFill>
          <a:ln>
            <a:solidFill>
              <a:srgbClr val="FF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947672"/>
            <a:ext cx="2148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B1BED6"/>
                </a:solidFill>
                <a:latin typeface="Aptos"/>
              </a:rPr>
              <a:t>FAILED RUNS</a:t>
            </a:r>
            <a:endParaRPr sz="9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03320" y="225856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667A"/>
                </a:solidFill>
                <a:latin typeface="Aptos"/>
              </a:rPr>
              <a:t>3</a:t>
            </a:r>
            <a:endParaRPr sz="2200" b="1" i="0">
              <a:solidFill>
                <a:srgbClr val="FF667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91656" y="1783080"/>
            <a:ext cx="2514600" cy="960120"/>
          </a:xfrm>
          <a:prstGeom prst="roundRect">
            <a:avLst/>
          </a:prstGeom>
          <a:solidFill>
            <a:srgbClr val="141F3A"/>
          </a:solidFill>
          <a:ln>
            <a:solidFill>
              <a:srgbClr val="FF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947672"/>
            <a:ext cx="2148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B1BED6"/>
                </a:solidFill>
                <a:latin typeface="Aptos"/>
              </a:rPr>
              <a:t>P95 LATENCY</a:t>
            </a:r>
            <a:endParaRPr sz="9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56248" y="225856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AE5C"/>
                </a:solidFill>
                <a:latin typeface="Aptos"/>
              </a:rPr>
              <a:t>1.8 s</a:t>
            </a:r>
            <a:endParaRPr sz="22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244584" y="1783080"/>
            <a:ext cx="2514600" cy="960120"/>
          </a:xfrm>
          <a:prstGeom prst="roundRect">
            <a:avLst/>
          </a:prstGeom>
          <a:solidFill>
            <a:srgbClr val="141F3A"/>
          </a:solidFill>
          <a:ln>
            <a:solidFill>
              <a:srgbClr val="A9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947672"/>
            <a:ext cx="2148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B1BED6"/>
                </a:solidFill>
                <a:latin typeface="Aptos"/>
              </a:rPr>
              <a:t>OPEN INCIDENTS</a:t>
            </a:r>
            <a:endParaRPr sz="9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09176" y="225856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A98BFF"/>
                </a:solidFill>
                <a:latin typeface="Aptos"/>
              </a:rPr>
              <a:t>2</a:t>
            </a:r>
            <a:endParaRPr sz="2200" b="1" i="0">
              <a:solidFill>
                <a:srgbClr val="A98BF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" y="3063240"/>
            <a:ext cx="6949440" cy="2240280"/>
          </a:xfrm>
          <a:prstGeom prst="roundRect">
            <a:avLst/>
          </a:prstGeom>
          <a:solidFill>
            <a:srgbClr val="141F3A"/>
          </a:solidFill>
          <a:ln>
            <a:solidFill>
              <a:srgbClr val="14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73552"/>
            <a:ext cx="3657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RECENT JOURNEY RUNS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3685032"/>
            <a:ext cx="2011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B1BED6"/>
                </a:solidFill>
                <a:latin typeface="Aptos"/>
              </a:rPr>
              <a:t>WORKFLOW</a:t>
            </a:r>
            <a:endParaRPr sz="9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08960" y="3685032"/>
            <a:ext cx="1097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B1BED6"/>
                </a:solidFill>
                <a:latin typeface="Aptos"/>
              </a:rPr>
              <a:t>STATUS</a:t>
            </a:r>
            <a:endParaRPr sz="9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43400" y="3685032"/>
            <a:ext cx="2560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B1BED6"/>
                </a:solidFill>
                <a:latin typeface="Aptos"/>
              </a:rPr>
              <a:t>FAILED STEP</a:t>
            </a:r>
            <a:endParaRPr sz="9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4023360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Checkout</a:t>
            </a:r>
            <a:endParaRPr sz="11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08960" y="4023360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667A"/>
                </a:solidFill>
                <a:latin typeface="Aptos"/>
              </a:rPr>
              <a:t>FAILED</a:t>
            </a:r>
            <a:endParaRPr sz="1000" b="1" i="0">
              <a:solidFill>
                <a:srgbClr val="FF667A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43400" y="4023360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F"/>
                </a:solidFill>
                <a:latin typeface="Aptos"/>
              </a:rPr>
              <a:t>Order verify</a:t>
            </a:r>
            <a:endParaRPr sz="10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400" y="440740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Login</a:t>
            </a:r>
            <a:endParaRPr sz="11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08960" y="440740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8E69D"/>
                </a:solidFill>
                <a:latin typeface="Aptos"/>
              </a:rPr>
              <a:t>PASSED</a:t>
            </a:r>
            <a:endParaRPr sz="1000" b="1" i="0">
              <a:solidFill>
                <a:srgbClr val="68E69D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43400" y="4407408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F"/>
                </a:solidFill>
                <a:latin typeface="Aptos"/>
              </a:rPr>
              <a:t>—</a:t>
            </a:r>
            <a:endParaRPr sz="10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4400" y="4791456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Payment API</a:t>
            </a:r>
            <a:endParaRPr sz="11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08960" y="4791456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667A"/>
                </a:solidFill>
                <a:latin typeface="Aptos"/>
              </a:rPr>
              <a:t>FAILED</a:t>
            </a:r>
            <a:endParaRPr sz="1000" b="1" i="0">
              <a:solidFill>
                <a:srgbClr val="FF667A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43400" y="4791456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5F8FF"/>
                </a:solidFill>
                <a:latin typeface="Aptos"/>
              </a:rPr>
              <a:t>Response validation</a:t>
            </a:r>
            <a:endParaRPr sz="10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955279" y="3063240"/>
            <a:ext cx="3520440" cy="224028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273552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AE5C"/>
                </a:solidFill>
                <a:latin typeface="Aptos"/>
              </a:rPr>
              <a:t>INCIDENT SUMMARY</a:t>
            </a:r>
            <a:endParaRPr sz="12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83879" y="3703320"/>
            <a:ext cx="28346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Checkout failed at order verification</a:t>
            </a:r>
            <a:endParaRPr sz="13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83879" y="4251960"/>
            <a:ext cx="27432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B1BED6"/>
                </a:solidFill>
                <a:latin typeface="Aptos"/>
              </a:rPr>
              <a:t>Evidence: payment approved; order record missing after 10s.</a:t>
            </a:r>
            <a:endParaRPr sz="11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183879" y="4828032"/>
            <a:ext cx="2880360" cy="329184"/>
          </a:xfrm>
          <a:prstGeom prst="roundRect">
            <a:avLst/>
          </a:prstGeom>
          <a:solidFill>
            <a:srgbClr val="1B2A49"/>
          </a:solidFill>
          <a:ln>
            <a:solidFill>
              <a:srgbClr val="42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38744" y="4850892"/>
            <a:ext cx="277063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42E7BE"/>
                </a:solidFill>
                <a:latin typeface="Aptos"/>
              </a:rPr>
              <a:t>RUNBOOK: CHECK ORDER SERVICE</a:t>
            </a:r>
            <a:endParaRPr sz="10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7240" y="5715000"/>
            <a:ext cx="10515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B1BED6"/>
                </a:solidFill>
                <a:latin typeface="Aptos"/>
              </a:rPr>
              <a:t>Demo tip: click a failed run to show timeline, captured evidence and recommended action.</a:t>
            </a:r>
            <a:endParaRPr sz="1100" b="0" i="1">
              <a:solidFill>
                <a:srgbClr val="B1BED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07 • RESPONSE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Recover safely — with humans in control</a:t>
            </a:r>
            <a:endParaRPr sz="2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1BED6"/>
                </a:solidFill>
                <a:latin typeface="Aptos"/>
              </a:rPr>
              <a:t>Automation should reduce toil without creating duplicate orders or unsafe retries.</a:t>
            </a:r>
            <a:endParaRPr sz="13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08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B1BED6"/>
                </a:solidFill>
                <a:latin typeface="Aptos"/>
              </a:rPr>
              <a:t>HACKATHON • SOLUTION CONCEPT</a:t>
            </a:r>
            <a:endParaRPr sz="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493008" cy="2514600"/>
          </a:xfrm>
          <a:prstGeom prst="roundRect">
            <a:avLst/>
          </a:prstGeom>
          <a:solidFill>
            <a:srgbClr val="141F3A"/>
          </a:solidFill>
          <a:ln>
            <a:solidFill>
              <a:srgbClr val="42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12848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42E7BE"/>
                </a:solidFill>
                <a:latin typeface="Aptos"/>
              </a:rPr>
              <a:t>AUTOMATED</a:t>
            </a:r>
            <a:endParaRPr sz="12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2724912"/>
            <a:ext cx="2971800" cy="141732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Retry transient, idempotent checks</a:t>
            </a:r>
          </a:p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Re-run a read-only validation</a:t>
            </a:r>
          </a:p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Attach evidence to an incident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17136" y="1965960"/>
            <a:ext cx="3493008" cy="2514600"/>
          </a:xfrm>
          <a:prstGeom prst="roundRect">
            <a:avLst/>
          </a:prstGeom>
          <a:solidFill>
            <a:srgbClr val="141F3A"/>
          </a:solidFill>
          <a:ln>
            <a:solidFill>
              <a:srgbClr val="FF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3" y="2212848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AE5C"/>
                </a:solidFill>
                <a:latin typeface="Aptos"/>
              </a:rPr>
              <a:t>APPROVAL REQUIRED</a:t>
            </a:r>
            <a:endParaRPr sz="12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18303" y="2724912"/>
            <a:ext cx="2971800" cy="141732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Replay a transaction</a:t>
            </a:r>
          </a:p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Fail over or change routing</a:t>
            </a:r>
          </a:p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Restart a critical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75904" y="1965960"/>
            <a:ext cx="3493008" cy="2514600"/>
          </a:xfrm>
          <a:prstGeom prst="roundRect">
            <a:avLst/>
          </a:prstGeom>
          <a:solidFill>
            <a:srgbClr val="141F3A"/>
          </a:solidFill>
          <a:ln>
            <a:solidFill>
              <a:srgbClr val="FF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212848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667A"/>
                </a:solidFill>
                <a:latin typeface="Aptos"/>
              </a:rPr>
              <a:t>NEVER BY DEFAULT</a:t>
            </a:r>
            <a:endParaRPr sz="1200" b="1" i="0">
              <a:solidFill>
                <a:srgbClr val="FF667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77072" y="2724912"/>
            <a:ext cx="2971800" cy="141732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Repeat a payment blindly</a:t>
            </a:r>
          </a:p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Delete business data automatically</a:t>
            </a:r>
          </a:p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Hide or overwrite audit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92040"/>
            <a:ext cx="10881360" cy="68580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02352"/>
            <a:ext cx="10332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Guardrails: least privilege • secrets redaction • rate limits • idempotency keys • audit trail • human approval</a:t>
            </a:r>
            <a:endParaRPr sz="12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9808" y="5897880"/>
            <a:ext cx="10424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B1BED6"/>
                </a:solidFill>
                <a:latin typeface="Aptos"/>
              </a:rPr>
              <a:t>Recovery actions are configurable policies, not unrestricted self-healing.</a:t>
            </a:r>
            <a:endParaRPr sz="1100" b="0" i="1">
              <a:solidFill>
                <a:srgbClr val="B1BED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08 • IMPLEMENTATION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A realistic hackathon MVP</a:t>
            </a:r>
            <a:endParaRPr sz="2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1BED6"/>
                </a:solidFill>
                <a:latin typeface="Aptos"/>
              </a:rPr>
              <a:t>Build one complete journey end-to-end before adding more workflows.</a:t>
            </a:r>
            <a:endParaRPr sz="13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09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B1BED6"/>
                </a:solidFill>
                <a:latin typeface="Aptos"/>
              </a:rPr>
              <a:t>HACKATHON • SOLUTION CONCEPT</a:t>
            </a:r>
            <a:endParaRPr sz="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1051560" cy="329184"/>
          </a:xfrm>
          <a:prstGeom prst="roundRect">
            <a:avLst/>
          </a:prstGeom>
          <a:solidFill>
            <a:srgbClr val="1B2A49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79"/>
            <a:ext cx="941831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PHASE 1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8840" y="1892807"/>
            <a:ext cx="1371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8D9EF"/>
                </a:solidFill>
                <a:latin typeface="Aptos"/>
              </a:rPr>
              <a:t>WORKFLOW</a:t>
            </a:r>
            <a:endParaRPr sz="13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0" y="1883663"/>
            <a:ext cx="7132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One checkout/login flow; test account; baseline expected outcomes.</a:t>
            </a:r>
            <a:endParaRPr sz="13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1051560" cy="329184"/>
          </a:xfrm>
          <a:prstGeom prst="roundRect">
            <a:avLst/>
          </a:prstGeom>
          <a:solidFill>
            <a:srgbClr val="1B2A49"/>
          </a:solidFill>
          <a:ln>
            <a:solidFill>
              <a:srgbClr val="A9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811779"/>
            <a:ext cx="941831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A98BFF"/>
                </a:solidFill>
                <a:latin typeface="Aptos"/>
              </a:rPr>
              <a:t>PHASE 2</a:t>
            </a:r>
            <a:endParaRPr sz="1000" b="1" i="0">
              <a:solidFill>
                <a:srgbClr val="A98B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48840" y="2807208"/>
            <a:ext cx="1371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A98BFF"/>
                </a:solidFill>
                <a:latin typeface="Aptos"/>
              </a:rPr>
              <a:t>DETECT</a:t>
            </a:r>
            <a:endParaRPr sz="1300" b="1" i="0">
              <a:solidFill>
                <a:srgbClr val="A98B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0" y="2798063"/>
            <a:ext cx="7132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Step-level assertions, timeouts, latency metrics, pass/fail history.</a:t>
            </a:r>
            <a:endParaRPr sz="13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" y="3703320"/>
            <a:ext cx="1051560" cy="329184"/>
          </a:xfrm>
          <a:prstGeom prst="roundRect">
            <a:avLst/>
          </a:prstGeom>
          <a:solidFill>
            <a:srgbClr val="1B2A49"/>
          </a:solidFill>
          <a:ln>
            <a:solidFill>
              <a:srgbClr val="FF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726180"/>
            <a:ext cx="941831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AE5C"/>
                </a:solidFill>
                <a:latin typeface="Aptos"/>
              </a:rPr>
              <a:t>PHASE 3</a:t>
            </a:r>
            <a:endParaRPr sz="10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48840" y="3721607"/>
            <a:ext cx="1371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AE5C"/>
                </a:solidFill>
                <a:latin typeface="Aptos"/>
              </a:rPr>
              <a:t>EXPLAIN</a:t>
            </a:r>
            <a:endParaRPr sz="13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0" y="3712463"/>
            <a:ext cx="7132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Evidence bundle, correlation IDs, probable-cause rules, incident view.</a:t>
            </a:r>
            <a:endParaRPr sz="13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60" y="4617720"/>
            <a:ext cx="1051560" cy="329184"/>
          </a:xfrm>
          <a:prstGeom prst="roundRect">
            <a:avLst/>
          </a:prstGeom>
          <a:solidFill>
            <a:srgbClr val="1B2A49"/>
          </a:solidFill>
          <a:ln>
            <a:solidFill>
              <a:srgbClr val="42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640580"/>
            <a:ext cx="941831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42E7BE"/>
                </a:solidFill>
                <a:latin typeface="Aptos"/>
              </a:rPr>
              <a:t>PHASE 4</a:t>
            </a:r>
            <a:endParaRPr sz="10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48840" y="4636007"/>
            <a:ext cx="1371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42E7BE"/>
                </a:solidFill>
                <a:latin typeface="Aptos"/>
              </a:rPr>
              <a:t>DEMO</a:t>
            </a:r>
            <a:endParaRPr sz="13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0" y="4626864"/>
            <a:ext cx="7132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Dashboard, alert webhook, one safe approved recovery action.</a:t>
            </a:r>
            <a:endParaRPr sz="13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22960" y="5623560"/>
            <a:ext cx="10424160" cy="475488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751576"/>
            <a:ext cx="99669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42E7BE"/>
                </a:solidFill>
                <a:latin typeface="Aptos"/>
              </a:rPr>
              <a:t>MVP success: detect a seeded failure, show proof, alert the team, and document a safe next step.</a:t>
            </a:r>
            <a:endParaRPr sz="1100" b="1" i="0">
              <a:solidFill>
                <a:srgbClr val="42E7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09 • SUCCESS MEASURES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Prove that the prototype improves reliability</a:t>
            </a:r>
            <a:endParaRPr sz="2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1BED6"/>
                </a:solidFill>
                <a:latin typeface="Aptos"/>
              </a:rPr>
              <a:t>Choose measurable outcomes and show them during the demo.</a:t>
            </a:r>
            <a:endParaRPr sz="13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10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B1BED6"/>
                </a:solidFill>
                <a:latin typeface="Aptos"/>
              </a:rPr>
              <a:t>HACKATHON • SOLUTION CONCEPT</a:t>
            </a:r>
            <a:endParaRPr sz="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2743200" cy="50292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56816"/>
            <a:ext cx="2377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Detection time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86200" y="1938528"/>
            <a:ext cx="6766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How quickly a failed journey is flagged</a:t>
            </a:r>
            <a:endParaRPr sz="13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2542032"/>
            <a:ext cx="2743200" cy="50292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70048"/>
            <a:ext cx="2377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Diagnostic usefulness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86200" y="2651760"/>
            <a:ext cx="6766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Can the team identify the failed step and evidence?</a:t>
            </a:r>
            <a:endParaRPr sz="13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3255264"/>
            <a:ext cx="2743200" cy="50292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83280"/>
            <a:ext cx="2377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False-positive rate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86200" y="3364992"/>
            <a:ext cx="6766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How often alerts occur without a real failure</a:t>
            </a:r>
            <a:endParaRPr sz="13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" y="3968496"/>
            <a:ext cx="2743200" cy="50292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96511"/>
            <a:ext cx="2377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Workflow coverage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6200" y="4078224"/>
            <a:ext cx="6766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Share of critical journeys monitored</a:t>
            </a:r>
            <a:endParaRPr sz="13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60" y="4681728"/>
            <a:ext cx="2743200" cy="50292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09744"/>
            <a:ext cx="2377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Recovery safety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86200" y="4791456"/>
            <a:ext cx="6766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Retries blocked or gated when risk is high</a:t>
            </a:r>
            <a:endParaRPr sz="13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AE5C"/>
                </a:solidFill>
                <a:latin typeface="Aptos"/>
              </a:rPr>
              <a:t>Report measured results from your own prototype; do not present illustrative dashboard values as real performance.</a:t>
            </a:r>
            <a:endParaRPr sz="1100" b="1" i="0">
              <a:solidFill>
                <a:srgbClr val="FFAE5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10 • LIVE DEMO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A 90-second story judges can follow</a:t>
            </a:r>
            <a:endParaRPr sz="2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1BED6"/>
                </a:solidFill>
                <a:latin typeface="Aptos"/>
              </a:rPr>
              <a:t>Show a normal run, inject a controlled failure, then show the evidence and response.</a:t>
            </a:r>
            <a:endParaRPr sz="13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11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B1BED6"/>
                </a:solidFill>
                <a:latin typeface="Aptos"/>
              </a:rPr>
              <a:t>HACKATHON • SOLUTION CONCEPT</a:t>
            </a:r>
            <a:endParaRPr sz="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487168" cy="1874519"/>
          </a:xfrm>
          <a:prstGeom prst="roundRect">
            <a:avLst/>
          </a:prstGeom>
          <a:solidFill>
            <a:srgbClr val="141F3A"/>
          </a:solidFill>
          <a:ln>
            <a:solidFill>
              <a:srgbClr val="42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42E7BE"/>
                </a:solidFill>
                <a:latin typeface="Aptos"/>
              </a:rPr>
              <a:t>0–20s</a:t>
            </a:r>
            <a:endParaRPr sz="11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788920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BASELINE</a:t>
            </a:r>
            <a:endParaRPr sz="14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3227832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B1BED6"/>
                </a:solidFill>
                <a:latin typeface="Aptos"/>
              </a:rPr>
              <a:t>Run checkout successfully; show each validated step.</a:t>
            </a:r>
            <a:endParaRPr sz="11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84448" y="2148840"/>
            <a:ext cx="2487168" cy="1874519"/>
          </a:xfrm>
          <a:prstGeom prst="roundRect">
            <a:avLst/>
          </a:prstGeom>
          <a:solidFill>
            <a:srgbClr val="141F3A"/>
          </a:solidFill>
          <a:ln>
            <a:solidFill>
              <a:srgbClr val="FF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359152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AE5C"/>
                </a:solidFill>
                <a:latin typeface="Aptos"/>
              </a:rPr>
              <a:t>20–40s</a:t>
            </a:r>
            <a:endParaRPr sz="11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49039" y="2788920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INJECT</a:t>
            </a:r>
            <a:endParaRPr sz="14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49039" y="3227832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B1BED6"/>
                </a:solidFill>
                <a:latin typeface="Aptos"/>
              </a:rPr>
              <a:t>In test environment, make order verification fail.</a:t>
            </a:r>
            <a:endParaRPr sz="11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37376" y="2148840"/>
            <a:ext cx="2487168" cy="1874519"/>
          </a:xfrm>
          <a:prstGeom prst="roundRect">
            <a:avLst/>
          </a:prstGeom>
          <a:solidFill>
            <a:srgbClr val="141F3A"/>
          </a:solidFill>
          <a:ln>
            <a:solidFill>
              <a:srgbClr val="FF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359152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667A"/>
                </a:solidFill>
                <a:latin typeface="Aptos"/>
              </a:rPr>
              <a:t>40–65s</a:t>
            </a:r>
            <a:endParaRPr sz="1100" b="1" i="0">
              <a:solidFill>
                <a:srgbClr val="FF667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01968" y="2788920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DETECT</a:t>
            </a:r>
            <a:endParaRPr sz="14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01968" y="3227832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B1BED6"/>
                </a:solidFill>
                <a:latin typeface="Aptos"/>
              </a:rPr>
              <a:t>Show alert, failed step, timestamps and evidence.</a:t>
            </a:r>
            <a:endParaRPr sz="11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290304" y="2148840"/>
            <a:ext cx="2487168" cy="1874519"/>
          </a:xfrm>
          <a:prstGeom prst="roundRect">
            <a:avLst/>
          </a:prstGeom>
          <a:solidFill>
            <a:srgbClr val="141F3A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54896" y="2359152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8D9EF"/>
                </a:solidFill>
                <a:latin typeface="Aptos"/>
              </a:rPr>
              <a:t>65–90s</a:t>
            </a:r>
            <a:endParaRPr sz="11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54896" y="2788920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RESPOND</a:t>
            </a:r>
            <a:endParaRPr sz="14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54896" y="3227832"/>
            <a:ext cx="20574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B1BED6"/>
                </a:solidFill>
                <a:latin typeface="Aptos"/>
              </a:rPr>
              <a:t>Show recommended runbook and approval-gated action.</a:t>
            </a:r>
            <a:endParaRPr sz="11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22960" y="4709160"/>
            <a:ext cx="10515600" cy="822960"/>
          </a:xfrm>
          <a:prstGeom prst="roundRect">
            <a:avLst/>
          </a:prstGeom>
          <a:solidFill>
            <a:srgbClr val="1B2A49"/>
          </a:solidFill>
          <a:ln>
            <a:solidFill>
              <a:srgbClr val="1B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919472"/>
            <a:ext cx="1554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8D9EF"/>
                </a:solidFill>
                <a:latin typeface="Aptos"/>
              </a:rPr>
              <a:t>Judge takeaway</a:t>
            </a:r>
            <a:endParaRPr sz="11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0" y="4882896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We detect a broken business outcome, explain what failed, and guide a safe response.</a:t>
            </a:r>
            <a:endParaRPr sz="15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5870448"/>
            <a:ext cx="10332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B1BED6"/>
                </a:solidFill>
                <a:latin typeface="Aptos"/>
              </a:rPr>
              <a:t>Use sandbox services and synthetic data for the failure injection.</a:t>
            </a:r>
            <a:endParaRPr sz="1100" b="0" i="1">
              <a:solidFill>
                <a:srgbClr val="B1BED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11 • WHY IT MATTERS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Protect the entire business journey</a:t>
            </a:r>
            <a:endParaRPr sz="2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1BED6"/>
                </a:solidFill>
                <a:latin typeface="Aptos"/>
              </a:rPr>
              <a:t>A reliability layer that connects synthetic checks, evidence and controlled response.</a:t>
            </a:r>
            <a:endParaRPr sz="13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12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B1BED6"/>
                </a:solidFill>
                <a:latin typeface="Aptos"/>
              </a:rPr>
              <a:t>HACKATHON • SOLUTION CONCEPT</a:t>
            </a:r>
            <a:endParaRPr sz="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4937760" cy="1024128"/>
          </a:xfrm>
          <a:prstGeom prst="roundRect">
            <a:avLst/>
          </a:prstGeom>
          <a:solidFill>
            <a:srgbClr val="141F3A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48840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8D9EF"/>
                </a:solidFill>
                <a:latin typeface="Aptos"/>
              </a:rPr>
              <a:t>PROACTIVE</a:t>
            </a:r>
            <a:endParaRPr sz="11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77440" y="2112264"/>
            <a:ext cx="2971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Catch failures before customers report them</a:t>
            </a:r>
            <a:endParaRPr sz="13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4937760" cy="1024128"/>
          </a:xfrm>
          <a:prstGeom prst="roundRect">
            <a:avLst/>
          </a:prstGeom>
          <a:solidFill>
            <a:srgbClr val="141F3A"/>
          </a:solidFill>
          <a:ln>
            <a:solidFill>
              <a:srgbClr val="A9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48840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A98BFF"/>
                </a:solidFill>
                <a:latin typeface="Aptos"/>
              </a:rPr>
              <a:t>ACTIONABLE</a:t>
            </a:r>
            <a:endParaRPr sz="1100" b="1" i="0">
              <a:solidFill>
                <a:srgbClr val="A98B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0" y="2112264"/>
            <a:ext cx="2971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Turn raw errors into step-level evidence</a:t>
            </a:r>
            <a:endParaRPr sz="13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4937760" cy="1024128"/>
          </a:xfrm>
          <a:prstGeom prst="roundRect">
            <a:avLst/>
          </a:prstGeom>
          <a:solidFill>
            <a:srgbClr val="141F3A"/>
          </a:solidFill>
          <a:ln>
            <a:solidFill>
              <a:srgbClr val="42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566160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42E7BE"/>
                </a:solidFill>
                <a:latin typeface="Aptos"/>
              </a:rPr>
              <a:t>SAFE</a:t>
            </a:r>
            <a:endParaRPr sz="1100" b="1" i="0">
              <a:solidFill>
                <a:srgbClr val="42E7B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77440" y="3529584"/>
            <a:ext cx="2971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Keep risky recovery actions behind approval</a:t>
            </a:r>
            <a:endParaRPr sz="13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383280"/>
            <a:ext cx="4937760" cy="1024128"/>
          </a:xfrm>
          <a:prstGeom prst="roundRect">
            <a:avLst/>
          </a:prstGeom>
          <a:solidFill>
            <a:srgbClr val="141F3A"/>
          </a:solidFill>
          <a:ln>
            <a:solidFill>
              <a:srgbClr val="FF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566160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AE5C"/>
                </a:solidFill>
                <a:latin typeface="Aptos"/>
              </a:rPr>
              <a:t>MEASURABLE</a:t>
            </a:r>
            <a:endParaRPr sz="1100" b="1" i="0">
              <a:solidFill>
                <a:srgbClr val="FFAE5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0" y="3529584"/>
            <a:ext cx="2971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Track detection, diagnosis and workflow health</a:t>
            </a:r>
            <a:endParaRPr sz="13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2412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38D9EF"/>
                </a:solidFill>
                <a:latin typeface="Aptos"/>
              </a:rPr>
              <a:t>“Not just uptime. Protect the whole journey.”</a:t>
            </a:r>
            <a:endParaRPr sz="24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5879592"/>
            <a:ext cx="10241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Thank you • Questions?</a:t>
            </a:r>
            <a:endParaRPr sz="1300" b="1" i="0">
              <a:solidFill>
                <a:srgbClr val="F5F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D9EF"/>
          </a:solidFill>
          <a:ln>
            <a:solidFill>
              <a:srgbClr val="38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38D9EF"/>
                </a:solidFill>
                <a:latin typeface="Aptos"/>
              </a:rPr>
              <a:t>APPENDIX • PITCH SUPPORT</a:t>
            </a:r>
            <a:endParaRPr sz="10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How to explain it to judges</a:t>
            </a:r>
            <a:endParaRPr sz="2800" b="1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1BED6"/>
                </a:solidFill>
                <a:latin typeface="Aptos"/>
              </a:rPr>
              <a:t>Keep the explanation simple: business journey → validation → evidence → safe response.</a:t>
            </a:r>
            <a:endParaRPr sz="1300" b="0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1BED6"/>
                </a:solidFill>
                <a:latin typeface="Aptos"/>
              </a:rPr>
              <a:t>13</a:t>
            </a:r>
            <a:endParaRPr sz="10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B1BED6"/>
                </a:solidFill>
                <a:latin typeface="Aptos"/>
              </a:rPr>
              <a:t>HACKATHON • SOLUTION CONCEPT</a:t>
            </a:r>
            <a:endParaRPr sz="800" b="1" i="0">
              <a:solidFill>
                <a:srgbClr val="B1BED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What is a synthetic transaction?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23360" y="1783080"/>
            <a:ext cx="71323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A scripted, test-only journey that checks whether a real business workflow completes correctly.</a:t>
            </a:r>
            <a:endParaRPr sz="12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770632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How is this different from uptime monitoring?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23360" y="2770632"/>
            <a:ext cx="71323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Uptime asks whether a service responds. We ask whether the workflow produces the expected business outcome.</a:t>
            </a:r>
            <a:endParaRPr sz="12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758184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Where does AI help?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23360" y="3758184"/>
            <a:ext cx="71323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It can summarize correlated evidence and rank probable causes; deterministic assertions remain the source of truth.</a:t>
            </a:r>
            <a:endParaRPr sz="12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4745736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8D9EF"/>
                </a:solidFill>
                <a:latin typeface="Aptos"/>
              </a:rPr>
              <a:t>How do you avoid harm?</a:t>
            </a:r>
            <a:endParaRPr sz="1200" b="1" i="0">
              <a:solidFill>
                <a:srgbClr val="38D9E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23360" y="4745736"/>
            <a:ext cx="71323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5F8FF"/>
                </a:solidFill>
                <a:latin typeface="Aptos"/>
              </a:rPr>
              <a:t>Use test data, sandbox payments, least privilege, audit logs and human approval for risky actions.</a:t>
            </a:r>
            <a:endParaRPr sz="1200" b="0" i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15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42E7BE"/>
                </a:solidFill>
                <a:latin typeface="Aptos"/>
              </a:rPr>
              <a:t>Suggested opening: “A green server does not guarantee a successful customer journey. Our platform checks the journey end-to-end.”</a:t>
            </a:r>
            <a:endParaRPr sz="1100" b="1" i="0">
              <a:solidFill>
                <a:srgbClr val="42E7BE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7649</Words>
  <Application>WPS Presentation</Application>
  <PresentationFormat>On-screen Show (4:3)</PresentationFormat>
  <Paragraphs>503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Business Transactions — Autonomous Transaction Monitoring &amp; Recovery</dc:title>
  <dc:creator>OpenAI</dc:creator>
  <cp:keywords>synthetic monitoring, transaction monitoring, hackathon, observability, recovery</cp:keywords>
  <dc:description>generated using python-pptx</dc:description>
  <dc:subject>Hackathon project pitch deck</dc:subject>
  <cp:lastModifiedBy>Varshini Tamilmani</cp:lastModifiedBy>
  <cp:revision>3</cp:revision>
  <dcterms:created xsi:type="dcterms:W3CDTF">2013-01-27T09:14:00Z</dcterms:created>
  <dcterms:modified xsi:type="dcterms:W3CDTF">2026-10-13T08:43:31Z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1368EEE1375D4918B6E6CDD2EA0FBA35_13</vt:lpwstr>
  </property>
  <property fmtid="{D5CDD505-2E9C-101B-9397-08002B2CF9AE}" pid="3" name="KSOProductBuildVer">
    <vt:lpwstr>1033-12.1.0.29162</vt:lpwstr>
  </property>
</Properties>
</file>